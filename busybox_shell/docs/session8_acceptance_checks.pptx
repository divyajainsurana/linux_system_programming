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3" autoAdjust="0"/>
    <p:restoredTop sz="94711" autoAdjust="0"/>
  </p:normalViewPr>
  <p:slideViewPr>
    <p:cSldViewPr snapToGrid="0" snapToObjects="1">
      <p:cViewPr varScale="1">
        <p:scale>
          <a:sx n="84" d="100"/>
          <a:sy n="84" d="100"/>
        </p:scale>
        <p:origin x="127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41EB5C9-1307-BA42-ABA2-0BC069CD8E7F}"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41EB5C9-1307-BA42-ABA2-0BC069CD8E7F}" type="datetimeFigureOut">
              <a:rPr lang="en-US" smtClean="0"/>
              <a:t>4/5/2019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41EB5C9-1307-BA42-ABA2-0BC069CD8E7F}" type="datetimeFigureOut">
              <a:rPr lang="en-US" smtClean="0"/>
              <a:t>4/5/2019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4/5/2019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1EB5C9-1307-BA42-ABA2-0BC069CD8E7F}" type="datetimeFigureOut">
              <a:rPr lang="en-US" smtClean="0"/>
              <a:t>4/5/2019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pPr lvl="0" marL="0" indent="0">
              <a:buNone/>
            </a:pPr>
            <a:r>
              <a:rPr/>
              <a:t>Week</a:t>
            </a:r>
            <a:r>
              <a:rPr/>
              <a:t> </a:t>
            </a:r>
            <a:r>
              <a:rPr/>
              <a:t>8</a:t>
            </a:r>
            <a:r>
              <a:rPr/>
              <a:t> </a:t>
            </a:r>
            <a:r>
              <a:rPr/>
              <a:t>Sockets</a:t>
            </a:r>
            <a:r>
              <a:rPr/>
              <a:t> </a:t>
            </a:r>
            <a:r>
              <a:rPr/>
              <a:t>Client:</a:t>
            </a:r>
            <a:r>
              <a:rPr/>
              <a:t> </a:t>
            </a:r>
            <a:r>
              <a:rPr/>
              <a:t>Acceptance</a:t>
            </a:r>
            <a:r>
              <a:rPr/>
              <a:t> </a:t>
            </a:r>
            <a:r>
              <a:rPr/>
              <a:t>Checks</a:t>
            </a:r>
          </a:p>
        </p:txBody>
      </p:sp>
      <p:sp>
        <p:nvSpPr>
          <p:cNvPr id="3" name="Subtitle 2"/>
          <p:cNvSpPr>
            <a:spLocks noGrp="1"/>
          </p:cNvSpPr>
          <p:nvPr>
            <p:ph type="subTitle" idx="1"/>
          </p:nvPr>
        </p:nvSpPr>
        <p:spPr>
          <a:xfrm>
            <a:off x="1371600" y="3886200"/>
            <a:ext cx="6400800" cy="1752600"/>
          </a:xfrm>
        </p:spPr>
        <p:txBody>
          <a:bodyPr/>
          <a:lstStyle/>
          <a:p>
            <a:pPr lvl="0" marL="0" indent="0">
              <a:buNone/>
            </a:pPr>
            <a:r>
              <a:rPr/>
              <a:t>AiShell</a:t>
            </a:r>
            <a:r>
              <a:rPr/>
              <a:t> </a:t>
            </a:r>
            <a:r>
              <a:rPr/>
              <a:t>rpc</a:t>
            </a:r>
            <a:r>
              <a:rPr/>
              <a:t> </a:t>
            </a:r>
            <a:r>
              <a:rPr/>
              <a:t>command</a:t>
            </a:r>
            <a:r>
              <a:rPr/>
              <a:t> </a:t>
            </a:r>
            <a:r>
              <a:rPr/>
              <a:t>+</a:t>
            </a:r>
            <a:r>
              <a:rPr/>
              <a:t> </a:t>
            </a:r>
            <a:r>
              <a:rPr/>
              <a:t>local</a:t>
            </a:r>
            <a:r>
              <a:rPr/>
              <a:t> </a:t>
            </a:r>
            <a:r>
              <a:rPr/>
              <a:t>MCP-style</a:t>
            </a:r>
            <a:r>
              <a:rPr/>
              <a:t> </a:t>
            </a:r>
            <a:r>
              <a:rPr/>
              <a:t>toy</a:t>
            </a:r>
            <a:r>
              <a:rPr/>
              <a:t> </a:t>
            </a:r>
            <a:r>
              <a:rPr/>
              <a:t>server</a:t>
            </a:r>
            <a:br/>
            <a:br/>
            <a:r>
              <a:rPr/>
              <a:t>Linux</a:t>
            </a:r>
            <a:r>
              <a:rPr/>
              <a:t> </a:t>
            </a:r>
            <a:r>
              <a:rPr/>
              <a:t>System</a:t>
            </a:r>
            <a:r>
              <a:rPr/>
              <a:t> </a:t>
            </a:r>
            <a:r>
              <a:rPr/>
              <a:t>Programming</a:t>
            </a:r>
          </a:p>
        </p:txBody>
      </p:sp>
      <p:sp>
        <p:nvSpPr>
          <p:cNvPr id="4" name="Date Placeholder 3"/>
          <p:cNvSpPr>
            <a:spLocks noGrp="1"/>
          </p:cNvSpPr>
          <p:nvPr>
            <p:ph type="dt" sz="half" idx="10"/>
          </p:nvPr>
        </p:nvSpPr>
        <p:spPr/>
        <p:txBody>
          <a:bodyPr/>
          <a:lstStyle/>
          <a:p>
            <a:pPr lvl="0" marL="0" indent="0">
              <a:buNone/>
            </a:pPr>
            <a:r>
              <a:rPr/>
              <a:t>June</a:t>
            </a:r>
            <a:r>
              <a:rPr/>
              <a:t> </a:t>
            </a:r>
            <a:r>
              <a:rPr/>
              <a:t>3,</a:t>
            </a:r>
            <a:r>
              <a:rPr/>
              <a:t> </a:t>
            </a:r>
            <a:r>
              <a:rPr/>
              <a:t>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Week</a:t>
            </a:r>
            <a:r>
              <a:rPr/>
              <a:t> </a:t>
            </a:r>
            <a:r>
              <a:rPr/>
              <a:t>8</a:t>
            </a:r>
            <a:r>
              <a:rPr/>
              <a:t> </a:t>
            </a:r>
            <a:r>
              <a:rPr/>
              <a:t>Acceptance</a:t>
            </a:r>
            <a:r>
              <a:rPr/>
              <a:t> </a:t>
            </a:r>
            <a:r>
              <a:rPr/>
              <a:t>Checks</a:t>
            </a:r>
          </a:p>
        </p:txBody>
      </p:sp>
      <p:sp>
        <p:nvSpPr>
          <p:cNvPr id="3" name="Content Placeholder 2"/>
          <p:cNvSpPr>
            <a:spLocks noGrp="1"/>
          </p:cNvSpPr>
          <p:nvPr>
            <p:ph idx="1"/>
          </p:nvPr>
        </p:nvSpPr>
        <p:spPr/>
        <p:txBody>
          <a:bodyPr/>
          <a:lstStyle/>
          <a:p>
            <a:pPr lvl="0" marL="0" indent="0">
              <a:spcBef>
                <a:spcPts val="3000"/>
              </a:spcBef>
              <a:buNone/>
            </a:pPr>
            <a:r>
              <a:rPr b="1"/>
              <a:t>What We Built</a:t>
            </a:r>
          </a:p>
          <a:p>
            <a:pPr lvl="1"/>
            <a:r>
              <a:rPr/>
              <a:t>Client-facing command: </a:t>
            </a:r>
            <a:r>
              <a:rPr>
                <a:latin typeface="Courier"/>
              </a:rPr>
              <a:t>./busybox_shell rpc ...</a:t>
            </a:r>
          </a:p>
          <a:p>
            <a:pPr lvl="1"/>
            <a:r>
              <a:rPr/>
              <a:t>Local C toy server: </a:t>
            </a:r>
            <a:r>
              <a:rPr>
                <a:latin typeface="Courier"/>
              </a:rPr>
              <a:t>./toy_rpc_server</a:t>
            </a:r>
          </a:p>
          <a:p>
            <a:pPr lvl="1"/>
            <a:r>
              <a:rPr/>
              <a:t>Transport: TCP socket on </a:t>
            </a:r>
            <a:r>
              <a:rPr>
                <a:latin typeface="Courier"/>
              </a:rPr>
              <a:t>127.0.0.1:9000</a:t>
            </a:r>
          </a:p>
          <a:p>
            <a:pPr lvl="1"/>
            <a:r>
              <a:rPr/>
              <a:t>Protocol: one line-based request ending with newline</a:t>
            </a:r>
          </a:p>
          <a:p>
            <a:pPr lvl="1"/>
            <a:r>
              <a:rPr/>
              <a:t>Demo tools: </a:t>
            </a:r>
            <a:r>
              <a:rPr>
                <a:latin typeface="Courier"/>
              </a:rPr>
              <a:t>initialize</a:t>
            </a:r>
            <a:r>
              <a:rPr/>
              <a:t>, </a:t>
            </a:r>
            <a:r>
              <a:rPr>
                <a:latin typeface="Courier"/>
              </a:rPr>
              <a:t>list_tools</a:t>
            </a:r>
            <a:r>
              <a:rPr/>
              <a:t>, </a:t>
            </a:r>
            <a:r>
              <a:rPr>
                <a:latin typeface="Courier"/>
              </a:rPr>
              <a:t>call_tool get_time</a:t>
            </a:r>
            <a:r>
              <a:rPr/>
              <a:t>, </a:t>
            </a:r>
            <a:r>
              <a:rPr>
                <a:latin typeface="Courier"/>
              </a:rPr>
              <a:t>call_tool list_files</a:t>
            </a:r>
          </a:p>
          <a:p>
            <a:pPr lvl="0" indent="0">
              <a:buNone/>
            </a:pPr>
            <a:r>
              <a:rPr>
                <a:latin typeface="Courier"/>
              </a:rPr>
              <a:t>./test.sh</a:t>
            </a:r>
            <a:br/>
            <a:r>
              <a:rPr i="1">
                <a:solidFill>
                  <a:srgbClr val="60A0B0"/>
                </a:solidFill>
                <a:latin typeface="Courier"/>
              </a:rPr>
              <a:t># Total test cases: 162</a:t>
            </a:r>
            <a:br/>
            <a:r>
              <a:rPr i="1">
                <a:solidFill>
                  <a:srgbClr val="60A0B0"/>
                </a:solidFill>
                <a:latin typeface="Courier"/>
              </a:rPr>
              <a:t># All tests passed!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Acceptance</a:t>
            </a:r>
            <a:r>
              <a:rPr/>
              <a:t> </a:t>
            </a:r>
            <a:r>
              <a:rPr/>
              <a:t>Checklist</a:t>
            </a:r>
          </a:p>
        </p:txBody>
      </p:sp>
      <p:sp>
        <p:nvSpPr>
          <p:cNvPr id="3" name="Content Placeholder 2"/>
          <p:cNvSpPr>
            <a:spLocks noGrp="1"/>
          </p:cNvSpPr>
          <p:nvPr>
            <p:ph idx="1"/>
          </p:nvPr>
        </p:nvSpPr>
        <p:spPr/>
        <p:txBody>
          <a:bodyPr/>
          <a:lstStyle/>
          <a:p>
            <a:pPr lvl="0" marL="0" indent="0">
              <a:spcBef>
                <a:spcPts val="3000"/>
              </a:spcBef>
              <a:buNone/>
            </a:pPr>
            <a:r>
              <a:rPr b="1"/>
              <a:t>Status Against Slide Requirements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600200"/>
          <a:ext cx="8229600" cy="45212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marL="0" indent="0">
                        <a:buNone/>
                      </a:pPr>
                      <a:r>
                        <a:rPr/>
                        <a:t>Acceptance</a:t>
                      </a:r>
                      <a:r>
                        <a:rPr/>
                        <a:t> </a:t>
                      </a:r>
                      <a:r>
                        <a:rPr/>
                        <a:t>check</a:t>
                      </a:r>
                    </a:p>
                  </a:txBody>
                  <a:tcPr/>
                </a:tc>
                <a:tc>
                  <a:txBody>
                    <a:bodyPr/>
                    <a:lstStyle/>
                    <a:p>
                      <a:pPr lvl="0" marL="0" indent="0" algn="r">
                        <a:buNone/>
                      </a:pPr>
                      <a:r>
                        <a:rPr/>
                        <a:t>Status</a:t>
                      </a:r>
                    </a:p>
                  </a:txBody>
                  <a:tcPr/>
                </a:tc>
                <a:tc>
                  <a:txBody>
                    <a:bodyPr/>
                    <a:lstStyle/>
                    <a:p>
                      <a:pPr lvl="0" marL="0" indent="0">
                        <a:buNone/>
                      </a:pPr>
                      <a:r>
                        <a:rPr/>
                        <a:t>Evidence</a:t>
                      </a:r>
                    </a:p>
                  </a:txBody>
                  <a:tcPr/>
                </a:tc>
              </a:tr>
              <a:tr h="0">
                <a:tc>
                  <a:txBody>
                    <a:bodyPr/>
                    <a:lstStyle/>
                    <a:p>
                      <a:pPr lvl="0" marL="0" indent="0">
                        <a:buNone/>
                      </a:pPr>
                      <a:r>
                        <a:rPr/>
                        <a:t>Client</a:t>
                      </a:r>
                      <a:r>
                        <a:rPr/>
                        <a:t> </a:t>
                      </a:r>
                      <a:r>
                        <a:rPr/>
                        <a:t>connects/exchanges</a:t>
                      </a:r>
                      <a:r>
                        <a:rPr/>
                        <a:t> </a:t>
                      </a:r>
                      <a:r>
                        <a:rPr/>
                        <a:t>data</a:t>
                      </a:r>
                    </a:p>
                  </a:txBody>
                </a:tc>
                <a:tc>
                  <a:txBody>
                    <a:bodyPr/>
                    <a:lstStyle/>
                    <a:p>
                      <a:pPr lvl="0" marL="0" indent="0" algn="r">
                        <a:buNone/>
                      </a:pPr>
                      <a:r>
                        <a:rPr/>
                        <a:t>PASS</a:t>
                      </a:r>
                    </a:p>
                  </a:txBody>
                </a:tc>
                <a:tc>
                  <a:txBody>
                    <a:bodyPr/>
                    <a:lstStyle/>
                    <a:p>
                      <a:pPr lvl="0" marL="0" indent="0">
                        <a:buNone/>
                      </a:pPr>
                      <a:r>
                        <a:rPr>
                          <a:latin typeface="Courier"/>
                        </a:rPr>
                        <a:t>rpc initialize</a:t>
                      </a:r>
                      <a:r>
                        <a:rPr/>
                        <a:t>,</a:t>
                      </a:r>
                      <a:r>
                        <a:rPr/>
                        <a:t> </a:t>
                      </a:r>
                      <a:r>
                        <a:rPr>
                          <a:latin typeface="Courier"/>
                        </a:rPr>
                        <a:t>rpc list_tools</a:t>
                      </a:r>
                    </a:p>
                  </a:txBody>
                </a:tc>
              </a:tr>
              <a:tr h="0">
                <a:tc>
                  <a:txBody>
                    <a:bodyPr/>
                    <a:lstStyle/>
                    <a:p>
                      <a:pPr lvl="0" marL="0" indent="0">
                        <a:buNone/>
                      </a:pPr>
                      <a:r>
                        <a:rPr/>
                        <a:t>Handles</a:t>
                      </a:r>
                      <a:r>
                        <a:rPr/>
                        <a:t> </a:t>
                      </a:r>
                      <a:r>
                        <a:rPr/>
                        <a:t>errors</a:t>
                      </a:r>
                      <a:r>
                        <a:rPr/>
                        <a:t> </a:t>
                      </a:r>
                      <a:r>
                        <a:rPr/>
                        <a:t>cleanly</a:t>
                      </a:r>
                    </a:p>
                  </a:txBody>
                </a:tc>
                <a:tc>
                  <a:txBody>
                    <a:bodyPr/>
                    <a:lstStyle/>
                    <a:p>
                      <a:pPr lvl="0" marL="0" indent="0" algn="r">
                        <a:buNone/>
                      </a:pPr>
                      <a:r>
                        <a:rPr/>
                        <a:t>PASS</a:t>
                      </a:r>
                    </a:p>
                  </a:txBody>
                </a:tc>
                <a:tc>
                  <a:txBody>
                    <a:bodyPr/>
                    <a:lstStyle/>
                    <a:p>
                      <a:pPr lvl="0" marL="0" indent="0">
                        <a:buNone/>
                      </a:pPr>
                      <a:r>
                        <a:rPr/>
                        <a:t>no-server</a:t>
                      </a:r>
                      <a:r>
                        <a:rPr/>
                        <a:t> </a:t>
                      </a:r>
                      <a:r>
                        <a:rPr/>
                        <a:t>connection</a:t>
                      </a:r>
                      <a:r>
                        <a:rPr/>
                        <a:t> </a:t>
                      </a:r>
                      <a:r>
                        <a:rPr/>
                        <a:t>error</a:t>
                      </a:r>
                    </a:p>
                  </a:txBody>
                </a:tc>
              </a:tr>
              <a:tr h="0">
                <a:tc>
                  <a:txBody>
                    <a:bodyPr/>
                    <a:lstStyle/>
                    <a:p>
                      <a:pPr lvl="0" marL="0" indent="0">
                        <a:buNone/>
                      </a:pPr>
                      <a:r>
                        <a:rPr/>
                        <a:t>Timeout</a:t>
                      </a:r>
                      <a:r>
                        <a:rPr/>
                        <a:t> </a:t>
                      </a:r>
                      <a:r>
                        <a:rPr/>
                        <a:t>prevents</a:t>
                      </a:r>
                      <a:r>
                        <a:rPr/>
                        <a:t> </a:t>
                      </a:r>
                      <a:r>
                        <a:rPr/>
                        <a:t>hanging</a:t>
                      </a:r>
                    </a:p>
                  </a:txBody>
                </a:tc>
                <a:tc>
                  <a:txBody>
                    <a:bodyPr/>
                    <a:lstStyle/>
                    <a:p>
                      <a:pPr lvl="0" marL="0" indent="0" algn="r">
                        <a:buNone/>
                      </a:pPr>
                      <a:r>
                        <a:rPr/>
                        <a:t>PASS</a:t>
                      </a:r>
                    </a:p>
                  </a:txBody>
                </a:tc>
                <a:tc>
                  <a:txBody>
                    <a:bodyPr/>
                    <a:lstStyle/>
                    <a:p>
                      <a:pPr lvl="0" marL="0" indent="0">
                        <a:buNone/>
                      </a:pPr>
                      <a:r>
                        <a:rPr>
                          <a:latin typeface="Courier"/>
                        </a:rPr>
                        <a:t>--timeout SECONDS</a:t>
                      </a:r>
                    </a:p>
                  </a:txBody>
                </a:tc>
              </a:tr>
              <a:tr h="0">
                <a:tc>
                  <a:txBody>
                    <a:bodyPr/>
                    <a:lstStyle/>
                    <a:p>
                      <a:pPr lvl="0" marL="0" indent="0">
                        <a:buNone/>
                      </a:pPr>
                      <a:r>
                        <a:rPr/>
                        <a:t>Human-readable</a:t>
                      </a:r>
                      <a:r>
                        <a:rPr/>
                        <a:t> </a:t>
                      </a:r>
                      <a:r>
                        <a:rPr/>
                        <a:t>output</a:t>
                      </a:r>
                    </a:p>
                  </a:txBody>
                </a:tc>
                <a:tc>
                  <a:txBody>
                    <a:bodyPr/>
                    <a:lstStyle/>
                    <a:p>
                      <a:pPr lvl="0" marL="0" indent="0" algn="r">
                        <a:buNone/>
                      </a:pPr>
                      <a:r>
                        <a:rPr/>
                        <a:t>PASS</a:t>
                      </a:r>
                    </a:p>
                  </a:txBody>
                </a:tc>
                <a:tc>
                  <a:txBody>
                    <a:bodyPr/>
                    <a:lstStyle/>
                    <a:p>
                      <a:pPr lvl="0" marL="0" indent="0">
                        <a:buNone/>
                      </a:pPr>
                      <a:r>
                        <a:rPr>
                          <a:latin typeface="Courier"/>
                        </a:rPr>
                        <a:t>RESULT ...</a:t>
                      </a:r>
                      <a:r>
                        <a:rPr/>
                        <a:t> </a:t>
                      </a:r>
                      <a:r>
                        <a:rPr/>
                        <a:t>lines</a:t>
                      </a:r>
                    </a:p>
                  </a:txBody>
                </a:tc>
              </a:tr>
              <a:tr h="0">
                <a:tc>
                  <a:txBody>
                    <a:bodyPr/>
                    <a:lstStyle/>
                    <a:p>
                      <a:pPr lvl="0" marL="0" indent="0">
                        <a:buNone/>
                      </a:pPr>
                      <a:r>
                        <a:rPr/>
                        <a:t>Optional</a:t>
                      </a:r>
                      <a:r>
                        <a:rPr/>
                        <a:t> </a:t>
                      </a:r>
                      <a:r>
                        <a:rPr/>
                        <a:t>JSON</a:t>
                      </a:r>
                      <a:r>
                        <a:rPr/>
                        <a:t> </a:t>
                      </a:r>
                      <a:r>
                        <a:rPr/>
                        <a:t>schema</a:t>
                      </a:r>
                    </a:p>
                  </a:txBody>
                </a:tc>
                <a:tc>
                  <a:txBody>
                    <a:bodyPr/>
                    <a:lstStyle/>
                    <a:p>
                      <a:pPr lvl="0" marL="0" indent="0" algn="r">
                        <a:buNone/>
                      </a:pPr>
                      <a:r>
                        <a:rPr/>
                        <a:t>PASS</a:t>
                      </a:r>
                    </a:p>
                  </a:txBody>
                </a:tc>
                <a:tc>
                  <a:txBody>
                    <a:bodyPr/>
                    <a:lstStyle/>
                    <a:p>
                      <a:pPr lvl="0" marL="0" indent="0">
                        <a:buNone/>
                      </a:pPr>
                      <a:r>
                        <a:rPr>
                          <a:latin typeface="Courier"/>
                        </a:rPr>
                        <a:t>--json</a:t>
                      </a:r>
                      <a:r>
                        <a:rPr/>
                        <a:t> </a:t>
                      </a:r>
                      <a:r>
                        <a:rPr/>
                        <a:t>response</a:t>
                      </a:r>
                      <a:r>
                        <a:rPr/>
                        <a:t> </a:t>
                      </a:r>
                      <a:r>
                        <a:rPr/>
                        <a:t>wrapper</a:t>
                      </a:r>
                    </a:p>
                  </a:txBody>
                </a:tc>
              </a:tr>
              <a:tr h="0">
                <a:tc>
                  <a:txBody>
                    <a:bodyPr/>
                    <a:lstStyle/>
                    <a:p>
                      <a:pPr lvl="0" marL="0" indent="0">
                        <a:buNone/>
                      </a:pPr>
                      <a:r>
                        <a:rPr/>
                        <a:t>Help/registry</a:t>
                      </a:r>
                      <a:r>
                        <a:rPr/>
                        <a:t> </a:t>
                      </a:r>
                      <a:r>
                        <a:rPr/>
                        <a:t>consistency</a:t>
                      </a:r>
                    </a:p>
                  </a:txBody>
                </a:tc>
                <a:tc>
                  <a:txBody>
                    <a:bodyPr/>
                    <a:lstStyle/>
                    <a:p>
                      <a:pPr lvl="0" marL="0" indent="0" algn="r">
                        <a:buNone/>
                      </a:pPr>
                      <a:r>
                        <a:rPr/>
                        <a:t>PASS</a:t>
                      </a:r>
                    </a:p>
                  </a:txBody>
                </a:tc>
                <a:tc>
                  <a:txBody>
                    <a:bodyPr/>
                    <a:lstStyle/>
                    <a:p>
                      <a:pPr lvl="0" marL="0" indent="0">
                        <a:buNone/>
                      </a:pPr>
                      <a:r>
                        <a:rPr>
                          <a:latin typeface="Courier"/>
                        </a:rPr>
                        <a:t>help</a:t>
                      </a:r>
                      <a:r>
                        <a:rPr/>
                        <a:t>,</a:t>
                      </a:r>
                      <a:r>
                        <a:rPr/>
                        <a:t> </a:t>
                      </a:r>
                      <a:r>
                        <a:rPr>
                          <a:latin typeface="Courier"/>
                        </a:rPr>
                        <a:t>help rpc</a:t>
                      </a:r>
                      <a:r>
                        <a:rPr/>
                        <a:t>,</a:t>
                      </a:r>
                      <a:r>
                        <a:rPr/>
                        <a:t> </a:t>
                      </a:r>
                      <a:r>
                        <a:rPr>
                          <a:latin typeface="Courier"/>
                        </a:rPr>
                        <a:t>help --json</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Local</a:t>
            </a:r>
            <a:r>
              <a:rPr/>
              <a:t> </a:t>
            </a:r>
            <a:r>
              <a:rPr/>
              <a:t>MCP-Style</a:t>
            </a:r>
            <a:r>
              <a:rPr/>
              <a:t> </a:t>
            </a:r>
            <a:r>
              <a:rPr/>
              <a:t>Architecture</a:t>
            </a:r>
          </a:p>
        </p:txBody>
      </p:sp>
      <p:sp>
        <p:nvSpPr>
          <p:cNvPr id="3" name="Content Placeholder 2"/>
          <p:cNvSpPr>
            <a:spLocks noGrp="1"/>
          </p:cNvSpPr>
          <p:nvPr>
            <p:ph idx="1"/>
          </p:nvPr>
        </p:nvSpPr>
        <p:spPr/>
        <p:txBody>
          <a:bodyPr/>
          <a:lstStyle/>
          <a:p>
            <a:pPr lvl="0" marL="0" indent="0">
              <a:spcBef>
                <a:spcPts val="3000"/>
              </a:spcBef>
              <a:buNone/>
            </a:pPr>
            <a:r>
              <a:rPr b="1"/>
              <a:t>Flow</a:t>
            </a:r>
          </a:p>
          <a:p>
            <a:pPr lvl="0" indent="0">
              <a:buNone/>
            </a:pPr>
            <a:r>
              <a:rPr>
                <a:latin typeface="Courier"/>
              </a:rPr>
              <a:t>User / class demo command
  -&gt; AiShell registered command: rpc
  -&gt; TCP client connects to 127.0.0.1:9000
  -&gt; toy_rpc_server receives one line-based request
  -&gt; server runs matching tool logic
  -&gt; response returns to client and prints in shell</a:t>
            </a:r>
          </a:p>
          <a:p>
            <a:pPr lvl="0" marL="0" indent="0">
              <a:buNone/>
            </a:pPr>
            <a:r>
              <a:rPr/>
              <a:t>MCP idea: the client/agent does not do the work directly; it asks a tool server.</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Implementation</a:t>
            </a:r>
            <a:r>
              <a:rPr/>
              <a:t> </a:t>
            </a:r>
            <a:r>
              <a:rPr/>
              <a:t>Map</a:t>
            </a:r>
          </a:p>
        </p:txBody>
      </p:sp>
      <p:sp>
        <p:nvSpPr>
          <p:cNvPr id="3" name="Content Placeholder 2"/>
          <p:cNvSpPr>
            <a:spLocks noGrp="1"/>
          </p:cNvSpPr>
          <p:nvPr>
            <p:ph idx="1"/>
          </p:nvPr>
        </p:nvSpPr>
        <p:spPr/>
        <p:txBody>
          <a:bodyPr/>
          <a:lstStyle/>
          <a:p>
            <a:pPr lvl="0" marL="0" indent="0">
              <a:spcBef>
                <a:spcPts val="3000"/>
              </a:spcBef>
              <a:buNone/>
            </a:pPr>
            <a:r>
              <a:rPr b="1"/>
              <a:t>Files To Show</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600200"/>
          <a:ext cx="8229600" cy="45212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marL="0" indent="0">
                        <a:buNone/>
                      </a:pPr>
                      <a:r>
                        <a:rPr/>
                        <a:t>Part</a:t>
                      </a:r>
                    </a:p>
                  </a:txBody>
                  <a:tcPr/>
                </a:tc>
                <a:tc>
                  <a:txBody>
                    <a:bodyPr/>
                    <a:lstStyle/>
                    <a:p>
                      <a:pPr lvl="0" marL="0" indent="0">
                        <a:buNone/>
                      </a:pPr>
                      <a:r>
                        <a:rPr/>
                        <a:t>File</a:t>
                      </a:r>
                    </a:p>
                  </a:txBody>
                  <a:tcPr/>
                </a:tc>
              </a:tr>
              <a:tr h="0">
                <a:tc>
                  <a:txBody>
                    <a:bodyPr/>
                    <a:lstStyle/>
                    <a:p>
                      <a:pPr lvl="0" marL="0" indent="0">
                        <a:buNone/>
                      </a:pPr>
                      <a:r>
                        <a:rPr/>
                        <a:t>AiShell</a:t>
                      </a:r>
                      <a:r>
                        <a:rPr/>
                        <a:t> </a:t>
                      </a:r>
                      <a:r>
                        <a:rPr/>
                        <a:t>command</a:t>
                      </a:r>
                    </a:p>
                  </a:txBody>
                </a:tc>
                <a:tc>
                  <a:txBody>
                    <a:bodyPr/>
                    <a:lstStyle/>
                    <a:p>
                      <a:pPr lvl="0" marL="0" indent="0">
                        <a:buNone/>
                      </a:pPr>
                      <a:r>
                        <a:rPr>
                          <a:latin typeface="Courier"/>
                        </a:rPr>
                        <a:t>busybox_shell/cmd_rpc.c</a:t>
                      </a:r>
                    </a:p>
                  </a:txBody>
                </a:tc>
              </a:tr>
              <a:tr h="0">
                <a:tc>
                  <a:txBody>
                    <a:bodyPr/>
                    <a:lstStyle/>
                    <a:p>
                      <a:pPr lvl="0" marL="0" indent="0">
                        <a:buNone/>
                      </a:pPr>
                      <a:r>
                        <a:rPr/>
                        <a:t>Header</a:t>
                      </a:r>
                    </a:p>
                  </a:txBody>
                </a:tc>
                <a:tc>
                  <a:txBody>
                    <a:bodyPr/>
                    <a:lstStyle/>
                    <a:p>
                      <a:pPr lvl="0" marL="0" indent="0">
                        <a:buNone/>
                      </a:pPr>
                      <a:r>
                        <a:rPr>
                          <a:latin typeface="Courier"/>
                        </a:rPr>
                        <a:t>busybox_shell/cmd_rpc.h</a:t>
                      </a:r>
                    </a:p>
                  </a:txBody>
                </a:tc>
              </a:tr>
              <a:tr h="0">
                <a:tc>
                  <a:txBody>
                    <a:bodyPr/>
                    <a:lstStyle/>
                    <a:p>
                      <a:pPr lvl="0" marL="0" indent="0">
                        <a:buNone/>
                      </a:pPr>
                      <a:r>
                        <a:rPr/>
                        <a:t>Registry</a:t>
                      </a:r>
                      <a:r>
                        <a:rPr/>
                        <a:t> </a:t>
                      </a:r>
                      <a:r>
                        <a:rPr/>
                        <a:t>integration</a:t>
                      </a:r>
                    </a:p>
                  </a:txBody>
                </a:tc>
                <a:tc>
                  <a:txBody>
                    <a:bodyPr/>
                    <a:lstStyle/>
                    <a:p>
                      <a:pPr lvl="0" marL="0" indent="0">
                        <a:buNone/>
                      </a:pPr>
                      <a:r>
                        <a:rPr>
                          <a:latin typeface="Courier"/>
                        </a:rPr>
                        <a:t>busybox_shell/register_all_commands.c</a:t>
                      </a:r>
                    </a:p>
                  </a:txBody>
                </a:tc>
              </a:tr>
              <a:tr h="0">
                <a:tc>
                  <a:txBody>
                    <a:bodyPr/>
                    <a:lstStyle/>
                    <a:p>
                      <a:pPr lvl="0" marL="0" indent="0">
                        <a:buNone/>
                      </a:pPr>
                      <a:r>
                        <a:rPr/>
                        <a:t>Build</a:t>
                      </a:r>
                      <a:r>
                        <a:rPr/>
                        <a:t> </a:t>
                      </a:r>
                      <a:r>
                        <a:rPr/>
                        <a:t>integration</a:t>
                      </a:r>
                    </a:p>
                  </a:txBody>
                </a:tc>
                <a:tc>
                  <a:txBody>
                    <a:bodyPr/>
                    <a:lstStyle/>
                    <a:p>
                      <a:pPr lvl="0" marL="0" indent="0">
                        <a:buNone/>
                      </a:pPr>
                      <a:r>
                        <a:rPr>
                          <a:latin typeface="Courier"/>
                        </a:rPr>
                        <a:t>busybox_shell/Makefile</a:t>
                      </a:r>
                    </a:p>
                  </a:txBody>
                </a:tc>
              </a:tr>
              <a:tr h="0">
                <a:tc>
                  <a:txBody>
                    <a:bodyPr/>
                    <a:lstStyle/>
                    <a:p>
                      <a:pPr lvl="0" marL="0" indent="0">
                        <a:buNone/>
                      </a:pPr>
                      <a:r>
                        <a:rPr/>
                        <a:t>Local</a:t>
                      </a:r>
                      <a:r>
                        <a:rPr/>
                        <a:t> </a:t>
                      </a:r>
                      <a:r>
                        <a:rPr/>
                        <a:t>C</a:t>
                      </a:r>
                      <a:r>
                        <a:rPr/>
                        <a:t> </a:t>
                      </a:r>
                      <a:r>
                        <a:rPr/>
                        <a:t>demo</a:t>
                      </a:r>
                      <a:r>
                        <a:rPr/>
                        <a:t> </a:t>
                      </a:r>
                      <a:r>
                        <a:rPr/>
                        <a:t>server</a:t>
                      </a:r>
                    </a:p>
                  </a:txBody>
                </a:tc>
                <a:tc>
                  <a:txBody>
                    <a:bodyPr/>
                    <a:lstStyle/>
                    <a:p>
                      <a:pPr lvl="0" marL="0" indent="0">
                        <a:buNone/>
                      </a:pPr>
                      <a:r>
                        <a:rPr>
                          <a:latin typeface="Courier"/>
                        </a:rPr>
                        <a:t>Session 8_ Sockets Client/toy_rpc_server.c</a:t>
                      </a:r>
                    </a:p>
                  </a:txBody>
                </a:tc>
              </a:tr>
              <a:tr h="0">
                <a:tc>
                  <a:txBody>
                    <a:bodyPr/>
                    <a:lstStyle/>
                    <a:p>
                      <a:pPr lvl="0" marL="0" indent="0">
                        <a:buNone/>
                      </a:pPr>
                      <a:r>
                        <a:rPr/>
                        <a:t>C</a:t>
                      </a:r>
                      <a:r>
                        <a:rPr/>
                        <a:t> </a:t>
                      </a:r>
                      <a:r>
                        <a:rPr/>
                        <a:t>demo</a:t>
                      </a:r>
                      <a:r>
                        <a:rPr/>
                        <a:t> </a:t>
                      </a:r>
                      <a:r>
                        <a:rPr/>
                        <a:t>agent</a:t>
                      </a:r>
                    </a:p>
                  </a:txBody>
                </a:tc>
                <a:tc>
                  <a:txBody>
                    <a:bodyPr/>
                    <a:lstStyle/>
                    <a:p>
                      <a:pPr lvl="0" marL="0" indent="0">
                        <a:buNone/>
                      </a:pPr>
                      <a:r>
                        <a:rPr>
                          <a:latin typeface="Courier"/>
                        </a:rPr>
                        <a:t>Session 8_ Sockets Client/example_agent.c</a:t>
                      </a:r>
                    </a:p>
                  </a:txBody>
                </a:tc>
              </a:tr>
              <a:tr h="0">
                <a:tc>
                  <a:txBody>
                    <a:bodyPr/>
                    <a:lstStyle/>
                    <a:p>
                      <a:pPr lvl="0" marL="0" indent="0">
                        <a:buNone/>
                      </a:pPr>
                      <a:r>
                        <a:rPr/>
                        <a:t>Work</a:t>
                      </a:r>
                      <a:r>
                        <a:rPr/>
                        <a:t> </a:t>
                      </a:r>
                      <a:r>
                        <a:rPr/>
                        <a:t>log</a:t>
                      </a:r>
                      <a:r>
                        <a:rPr/>
                        <a:t> </a:t>
                      </a:r>
                      <a:r>
                        <a:rPr/>
                        <a:t>and</a:t>
                      </a:r>
                      <a:r>
                        <a:rPr/>
                        <a:t> </a:t>
                      </a:r>
                      <a:r>
                        <a:rPr/>
                        <a:t>verification</a:t>
                      </a:r>
                    </a:p>
                  </a:txBody>
                </a:tc>
                <a:tc>
                  <a:txBody>
                    <a:bodyPr/>
                    <a:lstStyle/>
                    <a:p>
                      <a:pPr lvl="0" marL="0" indent="0">
                        <a:buNone/>
                      </a:pPr>
                      <a:r>
                        <a:rPr>
                          <a:latin typeface="Courier"/>
                        </a:rPr>
                        <a:t>busybox_shell/docs/session8_rpc_demo.md</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Minimal</a:t>
            </a:r>
            <a:r>
              <a:rPr/>
              <a:t> </a:t>
            </a:r>
            <a:r>
              <a:rPr/>
              <a:t>Message</a:t>
            </a:r>
            <a:r>
              <a:rPr/>
              <a:t> </a:t>
            </a:r>
            <a:r>
              <a:rPr/>
              <a:t>Format</a:t>
            </a:r>
          </a:p>
        </p:txBody>
      </p:sp>
      <p:sp>
        <p:nvSpPr>
          <p:cNvPr id="3" name="Content Placeholder 2"/>
          <p:cNvSpPr>
            <a:spLocks noGrp="1"/>
          </p:cNvSpPr>
          <p:nvPr>
            <p:ph idx="1"/>
          </p:nvPr>
        </p:nvSpPr>
        <p:spPr/>
        <p:txBody>
          <a:bodyPr/>
          <a:lstStyle/>
          <a:p>
            <a:pPr lvl="0" marL="0" indent="0">
              <a:spcBef>
                <a:spcPts val="3000"/>
              </a:spcBef>
              <a:buNone/>
            </a:pPr>
            <a:r>
              <a:rPr b="1"/>
              <a:t>Line-Based Protocol</a:t>
            </a:r>
          </a:p>
          <a:p>
            <a:pPr lvl="0" indent="0">
              <a:buNone/>
            </a:pPr>
            <a:r>
              <a:rPr>
                <a:latin typeface="Courier"/>
              </a:rPr>
              <a:t>request  = METHOD [ARGS...] "\n"
args     = space-separated tokens
key/value tokens use colon syntax: key:value
response = server-defined text</a:t>
            </a:r>
          </a:p>
          <a:p>
            <a:pPr lvl="0" marL="0" indent="0">
              <a:buNone/>
            </a:pPr>
            <a:r>
              <a:rPr/>
              <a:t>Examples:</a:t>
            </a:r>
          </a:p>
          <a:p>
            <a:pPr lvl="0" indent="0">
              <a:buNone/>
            </a:pPr>
            <a:r>
              <a:rPr>
                <a:latin typeface="Courier"/>
              </a:rPr>
              <a:t>initialize
list_tools
call_tool get_time
call_tool list_files path:.</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Demo</a:t>
            </a:r>
            <a:r>
              <a:rPr/>
              <a:t> </a:t>
            </a:r>
            <a:r>
              <a:rPr/>
              <a:t>Commands</a:t>
            </a:r>
          </a:p>
        </p:txBody>
      </p:sp>
      <p:sp>
        <p:nvSpPr>
          <p:cNvPr id="3" name="Content Placeholder 2"/>
          <p:cNvSpPr>
            <a:spLocks noGrp="1"/>
          </p:cNvSpPr>
          <p:nvPr>
            <p:ph idx="1"/>
          </p:nvPr>
        </p:nvSpPr>
        <p:spPr/>
        <p:txBody>
          <a:bodyPr/>
          <a:lstStyle/>
          <a:p>
            <a:pPr lvl="0" marL="0" indent="0">
              <a:spcBef>
                <a:spcPts val="3000"/>
              </a:spcBef>
              <a:buNone/>
            </a:pPr>
            <a:r>
              <a:rPr b="1"/>
              <a:t>Terminal 1: Start Server</a:t>
            </a:r>
          </a:p>
          <a:p>
            <a:pPr lvl="0" indent="0">
              <a:buNone/>
            </a:pPr>
            <a:r>
              <a:rPr>
                <a:latin typeface="Courier"/>
              </a:rPr>
              <a:t>cd </a:t>
            </a:r>
            <a:r>
              <a:rPr>
                <a:solidFill>
                  <a:srgbClr val="4070A0"/>
                </a:solidFill>
                <a:latin typeface="Courier"/>
              </a:rPr>
              <a:t>"Session 8_ Sockets Client"</a:t>
            </a:r>
            <a:br/>
            <a:r>
              <a:rPr>
                <a:solidFill>
                  <a:srgbClr val="06287E"/>
                </a:solidFill>
                <a:latin typeface="Courier"/>
              </a:rPr>
              <a:t>make</a:t>
            </a:r>
            <a:br/>
            <a:r>
              <a:rPr>
                <a:latin typeface="Courier"/>
              </a:rPr>
              <a:t>./toy_rpc_server</a:t>
            </a:r>
          </a:p>
          <a:p>
            <a:pPr lvl="0" marL="0" indent="0">
              <a:buNone/>
            </a:pPr>
            <a:r>
              <a:rPr/>
              <a:t>Expected:</a:t>
            </a:r>
          </a:p>
          <a:p>
            <a:pPr lvl="0" indent="0">
              <a:buNone/>
            </a:pPr>
            <a:r>
              <a:rPr>
                <a:latin typeface="Courier"/>
              </a:rPr>
              <a:t>toy_rpc_server listening on 127.0.0.1:9000</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Demo</a:t>
            </a:r>
            <a:r>
              <a:rPr/>
              <a:t> </a:t>
            </a:r>
            <a:r>
              <a:rPr/>
              <a:t>Commands</a:t>
            </a:r>
          </a:p>
        </p:txBody>
      </p:sp>
      <p:sp>
        <p:nvSpPr>
          <p:cNvPr id="3" name="Content Placeholder 2"/>
          <p:cNvSpPr>
            <a:spLocks noGrp="1"/>
          </p:cNvSpPr>
          <p:nvPr>
            <p:ph idx="1"/>
          </p:nvPr>
        </p:nvSpPr>
        <p:spPr/>
        <p:txBody>
          <a:bodyPr/>
          <a:lstStyle/>
          <a:p>
            <a:pPr lvl="0" marL="0" indent="0">
              <a:spcBef>
                <a:spcPts val="3000"/>
              </a:spcBef>
              <a:buNone/>
            </a:pPr>
            <a:r>
              <a:rPr b="1"/>
              <a:t>Terminal 2: Use AiShell RPC Client</a:t>
            </a:r>
          </a:p>
          <a:p>
            <a:pPr lvl="0" indent="0">
              <a:buNone/>
            </a:pPr>
            <a:r>
              <a:rPr>
                <a:latin typeface="Courier"/>
              </a:rPr>
              <a:t>cd busybox_shell</a:t>
            </a:r>
            <a:br/>
            <a:r>
              <a:rPr>
                <a:latin typeface="Courier"/>
              </a:rPr>
              <a:t>./busybox_shell rpc initialize</a:t>
            </a:r>
            <a:br/>
            <a:r>
              <a:rPr>
                <a:latin typeface="Courier"/>
              </a:rPr>
              <a:t>./busybox_shell rpc list_tools</a:t>
            </a:r>
            <a:br/>
            <a:r>
              <a:rPr>
                <a:latin typeface="Courier"/>
              </a:rPr>
              <a:t>./busybox_shell rpc call_tool get_time</a:t>
            </a:r>
            <a:br/>
            <a:r>
              <a:rPr>
                <a:latin typeface="Courier"/>
              </a:rPr>
              <a:t>./busybox_shell rpc call_tool list_files path:.</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Expected</a:t>
            </a:r>
            <a:r>
              <a:rPr/>
              <a:t> </a:t>
            </a:r>
            <a:r>
              <a:rPr/>
              <a:t>Output</a:t>
            </a:r>
            <a:r>
              <a:rPr/>
              <a:t> </a:t>
            </a:r>
            <a:r>
              <a:rPr/>
              <a:t>Examples</a:t>
            </a:r>
          </a:p>
        </p:txBody>
      </p:sp>
      <p:sp>
        <p:nvSpPr>
          <p:cNvPr id="3" name="Content Placeholder 2"/>
          <p:cNvSpPr>
            <a:spLocks noGrp="1"/>
          </p:cNvSpPr>
          <p:nvPr>
            <p:ph idx="1"/>
          </p:nvPr>
        </p:nvSpPr>
        <p:spPr/>
        <p:txBody>
          <a:bodyPr/>
          <a:lstStyle/>
          <a:p>
            <a:pPr lvl="0" marL="0" indent="0">
              <a:spcBef>
                <a:spcPts val="3000"/>
              </a:spcBef>
              <a:buNone/>
            </a:pPr>
            <a:r>
              <a:rPr b="1"/>
              <a:t>Human-Readable Results</a:t>
            </a:r>
          </a:p>
          <a:p>
            <a:pPr lvl="0" indent="0">
              <a:buNone/>
            </a:pPr>
            <a:r>
              <a:rPr>
                <a:latin typeface="Courier"/>
              </a:rPr>
              <a:t>$ ./busybox_shell rpc initialize
RESULT initialize server=toy_rpc version=1.0
$ ./busybox_shell rpc list_tools
RESULT list_tools get_time echo list_files
$ ./busybox_shell rpc call_tool get_time
RESULT get_time 2026-06-03 11:51:09</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Timeout</a:t>
            </a:r>
            <a:r>
              <a:rPr/>
              <a:t> </a:t>
            </a:r>
            <a:r>
              <a:rPr/>
              <a:t>And</a:t>
            </a:r>
            <a:r>
              <a:rPr/>
              <a:t> </a:t>
            </a:r>
            <a:r>
              <a:rPr/>
              <a:t>Error</a:t>
            </a:r>
            <a:r>
              <a:rPr/>
              <a:t> </a:t>
            </a:r>
            <a:r>
              <a:rPr/>
              <a:t>Handling</a:t>
            </a:r>
          </a:p>
        </p:txBody>
      </p:sp>
      <p:sp>
        <p:nvSpPr>
          <p:cNvPr id="3" name="Content Placeholder 2"/>
          <p:cNvSpPr>
            <a:spLocks noGrp="1"/>
          </p:cNvSpPr>
          <p:nvPr>
            <p:ph idx="1"/>
          </p:nvPr>
        </p:nvSpPr>
        <p:spPr/>
        <p:txBody>
          <a:bodyPr/>
          <a:lstStyle/>
          <a:p>
            <a:pPr lvl="0" marL="0" indent="0">
              <a:spcBef>
                <a:spcPts val="3000"/>
              </a:spcBef>
              <a:buNone/>
            </a:pPr>
            <a:r>
              <a:rPr b="1"/>
              <a:t>Preventing Hangs</a:t>
            </a:r>
          </a:p>
          <a:p>
            <a:pPr lvl="0" indent="0">
              <a:buNone/>
            </a:pPr>
            <a:r>
              <a:rPr>
                <a:latin typeface="Courier"/>
              </a:rPr>
              <a:t>./busybox_shell rpc --timeout 2 call_tool get_time</a:t>
            </a:r>
          </a:p>
          <a:p>
            <a:pPr lvl="1"/>
            <a:r>
              <a:rPr/>
              <a:t>Sets send/receive socket timeout</a:t>
            </a:r>
          </a:p>
          <a:p>
            <a:pPr lvl="1"/>
            <a:r>
              <a:rPr/>
              <a:t>Default is 5 seconds</a:t>
            </a:r>
          </a:p>
          <a:p>
            <a:pPr lvl="1"/>
            <a:r>
              <a:rPr/>
              <a:t>Invalid values are rejected before connecting</a:t>
            </a:r>
          </a:p>
          <a:p>
            <a:pPr lvl="0" indent="0">
              <a:buNone/>
            </a:pPr>
            <a:r>
              <a:rPr>
                <a:latin typeface="Courier"/>
              </a:rPr>
              <a:t>$ ./busybox_shell rpc --timeout 0 initialize
rpc: timeout must be an integer from 1 to 300 seconds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No</a:t>
            </a:r>
            <a:r>
              <a:rPr/>
              <a:t> </a:t>
            </a:r>
            <a:r>
              <a:rPr/>
              <a:t>Server</a:t>
            </a:r>
            <a:r>
              <a:rPr/>
              <a:t> </a:t>
            </a:r>
            <a:r>
              <a:rPr/>
              <a:t>Running</a:t>
            </a:r>
          </a:p>
        </p:txBody>
      </p:sp>
      <p:sp>
        <p:nvSpPr>
          <p:cNvPr id="3" name="Content Placeholder 2"/>
          <p:cNvSpPr>
            <a:spLocks noGrp="1"/>
          </p:cNvSpPr>
          <p:nvPr>
            <p:ph idx="1"/>
          </p:nvPr>
        </p:nvSpPr>
        <p:spPr/>
        <p:txBody>
          <a:bodyPr/>
          <a:lstStyle/>
          <a:p>
            <a:pPr lvl="0" marL="0" indent="0">
              <a:spcBef>
                <a:spcPts val="3000"/>
              </a:spcBef>
              <a:buNone/>
            </a:pPr>
            <a:r>
              <a:rPr b="1"/>
              <a:t>Clean Error Path</a:t>
            </a:r>
          </a:p>
          <a:p>
            <a:pPr lvl="0" marL="0" indent="0">
              <a:buNone/>
            </a:pPr>
            <a:r>
              <a:rPr/>
              <a:t>If no server is listening on port </a:t>
            </a:r>
            <a:r>
              <a:rPr>
                <a:latin typeface="Courier"/>
              </a:rPr>
              <a:t>9000</a:t>
            </a:r>
            <a:r>
              <a:rPr/>
              <a:t>:</a:t>
            </a:r>
          </a:p>
          <a:p>
            <a:pPr lvl="0" indent="0">
              <a:buNone/>
            </a:pPr>
            <a:r>
              <a:rPr>
                <a:latin typeface="Courier"/>
              </a:rPr>
              <a:t>$ ./busybox_shell rpc initialize
rpc: could not connect to 127.0.0.1:9000</a:t>
            </a:r>
          </a:p>
          <a:p>
            <a:pPr lvl="0" marL="0" indent="0">
              <a:buNone/>
            </a:pPr>
            <a:r>
              <a:rPr/>
              <a:t>This satisfies the “handles errors cleanly” check.</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Help</a:t>
            </a:r>
            <a:r>
              <a:rPr/>
              <a:t> </a:t>
            </a:r>
            <a:r>
              <a:rPr/>
              <a:t>And</a:t>
            </a:r>
            <a:r>
              <a:rPr/>
              <a:t> </a:t>
            </a:r>
            <a:r>
              <a:rPr/>
              <a:t>Registry</a:t>
            </a:r>
          </a:p>
        </p:txBody>
      </p:sp>
      <p:sp>
        <p:nvSpPr>
          <p:cNvPr id="3" name="Content Placeholder 2"/>
          <p:cNvSpPr>
            <a:spLocks noGrp="1"/>
          </p:cNvSpPr>
          <p:nvPr>
            <p:ph idx="1"/>
          </p:nvPr>
        </p:nvSpPr>
        <p:spPr/>
        <p:txBody>
          <a:bodyPr/>
          <a:lstStyle/>
          <a:p>
            <a:pPr lvl="0" marL="0" indent="0">
              <a:spcBef>
                <a:spcPts val="3000"/>
              </a:spcBef>
              <a:buNone/>
            </a:pPr>
            <a:r>
              <a:rPr b="1"/>
              <a:t>Commands To Show</a:t>
            </a:r>
          </a:p>
          <a:p>
            <a:pPr lvl="0" indent="0">
              <a:buNone/>
            </a:pPr>
            <a:r>
              <a:rPr>
                <a:latin typeface="Courier"/>
              </a:rPr>
              <a:t>./busybox_shell help </a:t>
            </a:r>
            <a:r>
              <a:rPr b="1">
                <a:solidFill>
                  <a:srgbClr val="007020"/>
                </a:solidFill>
                <a:latin typeface="Courier"/>
              </a:rPr>
              <a:t>|</a:t>
            </a:r>
            <a:r>
              <a:rPr>
                <a:latin typeface="Courier"/>
              </a:rPr>
              <a:t> </a:t>
            </a:r>
            <a:r>
              <a:rPr>
                <a:solidFill>
                  <a:srgbClr val="06287E"/>
                </a:solidFill>
                <a:latin typeface="Courier"/>
              </a:rPr>
              <a:t>grep</a:t>
            </a:r>
            <a:r>
              <a:rPr>
                <a:latin typeface="Courier"/>
              </a:rPr>
              <a:t> rpc</a:t>
            </a:r>
            <a:br/>
            <a:r>
              <a:rPr>
                <a:latin typeface="Courier"/>
              </a:rPr>
              <a:t>./busybox_shell help rpc</a:t>
            </a:r>
            <a:br/>
            <a:r>
              <a:rPr>
                <a:latin typeface="Courier"/>
              </a:rPr>
              <a:t>./busybox_shell help rpc --json</a:t>
            </a:r>
            <a:br/>
            <a:r>
              <a:rPr>
                <a:latin typeface="Courier"/>
              </a:rPr>
              <a:t>./busybox_shell rpc --protocol</a:t>
            </a:r>
          </a:p>
          <a:p>
            <a:pPr lvl="0" marL="0" indent="0">
              <a:buNone/>
            </a:pPr>
            <a:r>
              <a:rPr/>
              <a:t>Expected snippets:</a:t>
            </a:r>
          </a:p>
          <a:p>
            <a:pPr lvl="0" indent="0">
              <a:buNone/>
            </a:pPr>
            <a:r>
              <a:rPr>
                <a:latin typeface="Courier"/>
              </a:rPr>
              <a:t>rpc - send a line-based RPC request
Usage: rpc [--host HOST] [--port PORT] [--timeout SECONDS] [--json] REQUEST...
Line-based RPC protocol:</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JSON</a:t>
            </a:r>
            <a:r>
              <a:rPr/>
              <a:t> </a:t>
            </a:r>
            <a:r>
              <a:rPr/>
              <a:t>Output</a:t>
            </a:r>
          </a:p>
        </p:txBody>
      </p:sp>
      <p:sp>
        <p:nvSpPr>
          <p:cNvPr id="3" name="Content Placeholder 2"/>
          <p:cNvSpPr>
            <a:spLocks noGrp="1"/>
          </p:cNvSpPr>
          <p:nvPr>
            <p:ph idx="1"/>
          </p:nvPr>
        </p:nvSpPr>
        <p:spPr/>
        <p:txBody>
          <a:bodyPr/>
          <a:lstStyle/>
          <a:p>
            <a:pPr lvl="0" marL="0" indent="0">
              <a:spcBef>
                <a:spcPts val="3000"/>
              </a:spcBef>
              <a:buNone/>
            </a:pPr>
            <a:r>
              <a:rPr b="1"/>
              <a:t>Stable Optional Schema</a:t>
            </a:r>
          </a:p>
          <a:p>
            <a:pPr lvl="0" indent="0">
              <a:buNone/>
            </a:pPr>
            <a:r>
              <a:rPr>
                <a:latin typeface="Courier"/>
              </a:rPr>
              <a:t>./busybox_shell rpc --json --timeout 2 call_tool get_time</a:t>
            </a:r>
          </a:p>
          <a:p>
            <a:pPr lvl="0" marL="0" indent="0">
              <a:buNone/>
            </a:pPr>
            <a:r>
              <a:rPr/>
              <a:t>Schema shape:</a:t>
            </a:r>
          </a:p>
          <a:p>
            <a:pPr lvl="0" indent="0">
              <a:buNone/>
            </a:pPr>
            <a:r>
              <a:rPr>
                <a:solidFill>
                  <a:srgbClr val="06287E"/>
                </a:solidFill>
                <a:latin typeface="Courier"/>
              </a:rPr>
              <a:t>{</a:t>
            </a:r>
            <a:br/>
            <a:r>
              <a:rPr>
                <a:latin typeface="Courier"/>
              </a:rPr>
              <a:t>  </a:t>
            </a:r>
            <a:r>
              <a:rPr>
                <a:solidFill>
                  <a:srgbClr val="902000"/>
                </a:solidFill>
                <a:latin typeface="Courier"/>
              </a:rPr>
              <a:t>"host"</a:t>
            </a:r>
            <a:r>
              <a:rPr>
                <a:solidFill>
                  <a:srgbClr val="06287E"/>
                </a:solidFill>
                <a:latin typeface="Courier"/>
              </a:rPr>
              <a:t>:</a:t>
            </a:r>
            <a:r>
              <a:rPr>
                <a:latin typeface="Courier"/>
              </a:rPr>
              <a:t> </a:t>
            </a:r>
            <a:r>
              <a:rPr>
                <a:solidFill>
                  <a:srgbClr val="4070A0"/>
                </a:solidFill>
                <a:latin typeface="Courier"/>
              </a:rPr>
              <a:t>"127.0.0.1"</a:t>
            </a:r>
            <a:r>
              <a:rPr>
                <a:solidFill>
                  <a:srgbClr val="06287E"/>
                </a:solidFill>
                <a:latin typeface="Courier"/>
              </a:rPr>
              <a:t>,</a:t>
            </a:r>
            <a:br/>
            <a:r>
              <a:rPr>
                <a:latin typeface="Courier"/>
              </a:rPr>
              <a:t>  </a:t>
            </a:r>
            <a:r>
              <a:rPr>
                <a:solidFill>
                  <a:srgbClr val="902000"/>
                </a:solidFill>
                <a:latin typeface="Courier"/>
              </a:rPr>
              <a:t>"port"</a:t>
            </a:r>
            <a:r>
              <a:rPr>
                <a:solidFill>
                  <a:srgbClr val="06287E"/>
                </a:solidFill>
                <a:latin typeface="Courier"/>
              </a:rPr>
              <a:t>:</a:t>
            </a:r>
            <a:r>
              <a:rPr>
                <a:latin typeface="Courier"/>
              </a:rPr>
              <a:t> </a:t>
            </a:r>
            <a:r>
              <a:rPr>
                <a:solidFill>
                  <a:srgbClr val="4070A0"/>
                </a:solidFill>
                <a:latin typeface="Courier"/>
              </a:rPr>
              <a:t>"9000"</a:t>
            </a:r>
            <a:r>
              <a:rPr>
                <a:solidFill>
                  <a:srgbClr val="06287E"/>
                </a:solidFill>
                <a:latin typeface="Courier"/>
              </a:rPr>
              <a:t>,</a:t>
            </a:r>
            <a:br/>
            <a:r>
              <a:rPr>
                <a:latin typeface="Courier"/>
              </a:rPr>
              <a:t>  </a:t>
            </a:r>
            <a:r>
              <a:rPr>
                <a:solidFill>
                  <a:srgbClr val="902000"/>
                </a:solidFill>
                <a:latin typeface="Courier"/>
              </a:rPr>
              <a:t>"timeout_seconds"</a:t>
            </a:r>
            <a:r>
              <a:rPr>
                <a:solidFill>
                  <a:srgbClr val="06287E"/>
                </a:solidFill>
                <a:latin typeface="Courier"/>
              </a:rPr>
              <a:t>:</a:t>
            </a:r>
            <a:r>
              <a:rPr>
                <a:latin typeface="Courier"/>
              </a:rPr>
              <a:t> </a:t>
            </a:r>
            <a:r>
              <a:rPr>
                <a:solidFill>
                  <a:srgbClr val="40A070"/>
                </a:solidFill>
                <a:latin typeface="Courier"/>
              </a:rPr>
              <a:t>2</a:t>
            </a:r>
            <a:r>
              <a:rPr>
                <a:solidFill>
                  <a:srgbClr val="06287E"/>
                </a:solidFill>
                <a:latin typeface="Courier"/>
              </a:rPr>
              <a:t>,</a:t>
            </a:r>
            <a:br/>
            <a:r>
              <a:rPr>
                <a:latin typeface="Courier"/>
              </a:rPr>
              <a:t>  </a:t>
            </a:r>
            <a:r>
              <a:rPr>
                <a:solidFill>
                  <a:srgbClr val="902000"/>
                </a:solidFill>
                <a:latin typeface="Courier"/>
              </a:rPr>
              <a:t>"response"</a:t>
            </a:r>
            <a:r>
              <a:rPr>
                <a:solidFill>
                  <a:srgbClr val="06287E"/>
                </a:solidFill>
                <a:latin typeface="Courier"/>
              </a:rPr>
              <a:t>:</a:t>
            </a:r>
            <a:r>
              <a:rPr>
                <a:latin typeface="Courier"/>
              </a:rPr>
              <a:t> </a:t>
            </a:r>
            <a:r>
              <a:rPr>
                <a:solidFill>
                  <a:srgbClr val="4070A0"/>
                </a:solidFill>
                <a:latin typeface="Courier"/>
              </a:rPr>
              <a:t>"RESULT get_time ..."</a:t>
            </a:r>
            <a:br/>
            <a:r>
              <a:rPr>
                <a:solidFill>
                  <a:srgbClr val="06287E"/>
                </a:solidFill>
                <a:latin typeface="Courier"/>
              </a:rPr>
              <a: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Verification</a:t>
            </a:r>
            <a:r>
              <a:rPr/>
              <a:t> </a:t>
            </a:r>
            <a:r>
              <a:rPr/>
              <a:t>Summary</a:t>
            </a:r>
          </a:p>
        </p:txBody>
      </p:sp>
      <p:sp>
        <p:nvSpPr>
          <p:cNvPr id="3" name="Content Placeholder 2"/>
          <p:cNvSpPr>
            <a:spLocks noGrp="1"/>
          </p:cNvSpPr>
          <p:nvPr>
            <p:ph idx="1"/>
          </p:nvPr>
        </p:nvSpPr>
        <p:spPr/>
        <p:txBody>
          <a:bodyPr/>
          <a:lstStyle/>
          <a:p>
            <a:pPr lvl="0" marL="0" indent="0">
              <a:spcBef>
                <a:spcPts val="3000"/>
              </a:spcBef>
              <a:buNone/>
            </a:pPr>
            <a:r>
              <a:rPr b="1"/>
              <a:t>Regression Tests Added</a:t>
            </a:r>
          </a:p>
          <a:p>
            <a:pPr lvl="0" indent="0">
              <a:buNone/>
            </a:pPr>
            <a:r>
              <a:rPr>
                <a:latin typeface="Courier"/>
              </a:rPr>
              <a:t>11.14 rpc appears in shell help                  PASS
11.15 rpc help prints usage                      PASS
11.16 rpc help shows timeout option              PASS
11.17 rpc json help includes summary             PASS
11.18 rpc protocol prints line format            PASS
11.19 rpc rejects invalid timeout                PASS</a:t>
            </a:r>
          </a:p>
          <a:p>
            <a:pPr lvl="0" indent="0">
              <a:buNone/>
            </a:pPr>
            <a:r>
              <a:rPr>
                <a:latin typeface="Courier"/>
              </a:rPr>
              <a:t>Total test cases: 162
All tests passed!</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marL="0" indent="0">
              <a:buNone/>
            </a:pPr>
            <a:r>
              <a:rPr/>
              <a:t>Final</a:t>
            </a:r>
            <a:r>
              <a:rPr/>
              <a:t> </a:t>
            </a:r>
            <a:r>
              <a:rPr/>
              <a:t>Claim</a:t>
            </a:r>
          </a:p>
        </p:txBody>
      </p:sp>
      <p:sp>
        <p:nvSpPr>
          <p:cNvPr id="3" name="Content Placeholder 2"/>
          <p:cNvSpPr>
            <a:spLocks noGrp="1"/>
          </p:cNvSpPr>
          <p:nvPr>
            <p:ph idx="1"/>
          </p:nvPr>
        </p:nvSpPr>
        <p:spPr/>
        <p:txBody>
          <a:bodyPr/>
          <a:lstStyle/>
          <a:p>
            <a:pPr lvl="0" marL="0" indent="0">
              <a:spcBef>
                <a:spcPts val="3000"/>
              </a:spcBef>
              <a:buNone/>
            </a:pPr>
            <a:r>
              <a:rPr b="1"/>
              <a:t>Acceptance Checks Are Covered</a:t>
            </a:r>
          </a:p>
          <a:p>
            <a:pPr lvl="1"/>
            <a:r>
              <a:rPr>
                <a:latin typeface="Courier"/>
              </a:rPr>
              <a:t>rpc</a:t>
            </a:r>
            <a:r>
              <a:rPr/>
              <a:t> is a real AiShell command in the registry</a:t>
            </a:r>
          </a:p>
          <a:p>
            <a:pPr lvl="1"/>
            <a:r>
              <a:rPr/>
              <a:t>It connects to a local C server and exchanges data</a:t>
            </a:r>
          </a:p>
          <a:p>
            <a:pPr lvl="1"/>
            <a:r>
              <a:rPr/>
              <a:t>Protocol is clearly defined and demoable</a:t>
            </a:r>
          </a:p>
          <a:p>
            <a:pPr lvl="1"/>
            <a:r>
              <a:rPr/>
              <a:t>Help, JSON, error paths, and timeout behavior are covered</a:t>
            </a:r>
          </a:p>
          <a:p>
            <a:pPr lvl="1"/>
            <a:r>
              <a:rPr/>
              <a:t>Work log and verification are documented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49</Words>
  <Application>Microsoft Office PowerPoint</Application>
  <PresentationFormat>On-screen Show (4:3)</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8 Sockets Client: Acceptance Checks</dc:title>
  <dc:creator>Linux System Programming</dc:creator>
  <cp:keywords/>
  <dcterms:created xsi:type="dcterms:W3CDTF">2026-06-04T00:18:21Z</dcterms:created>
  <dcterms:modified xsi:type="dcterms:W3CDTF">2026-06-04T00:18:21Z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June 3, 2026</vt:lpwstr>
  </property>
  <property fmtid="{D5CDD505-2E9C-101B-9397-08002B2CF9AE}" pid="3" name="subtitle">
    <vt:lpwstr>AiShell rpc command + local MCP-style toy server</vt:lpwstr>
  </property>
</Properties>
</file>